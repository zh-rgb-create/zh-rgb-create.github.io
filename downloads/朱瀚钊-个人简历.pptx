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143d376f54d30" /><Relationship Type="http://schemas.openxmlformats.org/officeDocument/2006/relationships/extended-properties" Target="/docProps/app.xml" Id="R16c8efe4665848ca" /><Relationship Type="http://schemas.openxmlformats.org/officeDocument/2006/relationships/officeDocument" Target="/ppt/presentation.xml" Id="R8aad661e3d2f43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7aa80f8ffa4963"/>
  </p:sldMasterIdLst>
  <p:notesMasterIdLst>
    <p:notesMasterId xmlns:r="http://schemas.openxmlformats.org/officeDocument/2006/relationships" r:id="R344157737c1e4ea4"/>
  </p:notesMasterIdLst>
  <p:sldIdLst>
    <p:sldId xmlns:r="http://schemas.openxmlformats.org/officeDocument/2006/relationships" id="256" r:id="R8153cec681114c21"/>
  </p:sldIdLst>
  <p:sldSz cx="7562850" cy="106965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a044feb20a4c4f" /><Relationship Type="http://schemas.openxmlformats.org/officeDocument/2006/relationships/slideMaster" Target="/ppt/slideMasters/slideMaster1.xml" Id="R807aa80f8ffa4963" /><Relationship Type="http://schemas.openxmlformats.org/officeDocument/2006/relationships/notesMaster" Target="/ppt/notesMasters/notesMaster1.xml" Id="R344157737c1e4ea4" /><Relationship Type="http://schemas.openxmlformats.org/officeDocument/2006/relationships/presProps" Target="/ppt/presProps.xml" Id="Re3e1752fdaf4430b" /><Relationship Type="http://schemas.openxmlformats.org/officeDocument/2006/relationships/viewProps" Target="/ppt/viewProps.xml" Id="R73966248b7104981" /><Relationship Type="http://schemas.openxmlformats.org/officeDocument/2006/relationships/tableStyles" Target="/ppt/tableStyles.xml" Id="R962b93bf3f3f4f89" /><Relationship Type="http://schemas.openxmlformats.org/officeDocument/2006/relationships/slide" Target="/ppt/slides/slide1.xml" Id="R8153cec681114c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30d6d714c045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13a4eff7747a7" /><Relationship Type="http://schemas.openxmlformats.org/officeDocument/2006/relationships/notesMaster" Target="/ppt/notesMasters/notesMaster1.xml" Id="Rdc4c305460f14e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87ecb62674b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7a0b841d604d7b" /><Relationship Type="http://schemas.openxmlformats.org/officeDocument/2006/relationships/slideLayout" Target="/ppt/slideLayouts/slideLayout1.xml" Id="R9194a2a52f9543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94a2a52f9543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c76101ebd44e5" /><Relationship Type="http://schemas.openxmlformats.org/officeDocument/2006/relationships/image" Target="/ppt/media/image.jpeg" Id="R85a1224213b94f91" /><Relationship Type="http://schemas.openxmlformats.org/officeDocument/2006/relationships/image" Target="/ppt/media/image.png" Id="R9677c269660745e5" /><Relationship Type="http://schemas.openxmlformats.org/officeDocument/2006/relationships/notesSlide" Target="/ppt/notesSlides/notesSlide1.xml" Id="Rf9836f4105794e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g">
            <a:extLst xmlns:a="http://schemas.openxmlformats.org/drawingml/2006/main">
              <a:ext uri="{FF2B5EF4-FFF2-40B4-BE49-F238E27FC236}">
                <a16:creationId xmlns:a16="http://schemas.microsoft.com/office/drawing/2014/main" id="{957AB368-CD10-4A47-8FE1-F757F130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993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445C4402-1661-4CC7-9EE6-F77E7534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3C"/>
          </a:solidFill>
        </p:spPr>
      </p:sp>
      <p:sp>
        <p:nvSpPr>
          <p:cNvPr id="3" name="candidate-name">
            <a:extLst xmlns:a="http://schemas.openxmlformats.org/drawingml/2006/main">
              <a:ext uri="{FF2B5EF4-FFF2-40B4-BE49-F238E27FC236}">
                <a16:creationId xmlns:a16="http://schemas.microsoft.com/office/drawing/2014/main" id="{74F5DBE9-D3AB-49F2-8E23-835D0D2C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朱瀚钊</a:t>
            </a:r>
          </a:p>
        </p:txBody>
      </p:sp>
      <p:sp>
        <p:nvSpPr>
          <p:cNvPr id="4" name="candidate-profile">
            <a:extLst xmlns:a="http://schemas.openxmlformats.org/drawingml/2006/main">
              <a:ext uri="{FF2B5EF4-FFF2-40B4-BE49-F238E27FC236}">
                <a16:creationId xmlns:a16="http://schemas.microsoft.com/office/drawing/2014/main" id="{F236C835-02B4-4186-8BFF-B054B5E1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66775"/>
            <a:ext cx="451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CE8EF"/>
                </a:solidFill>
                <a:latin typeface="Microsoft YaHei"/>
                <a:ea typeface="Microsoft YaHei"/>
                <a:cs typeface="Microsoft YaHei"/>
              </a:defRPr>
            </a:pPr>
            <a:r>
              <a:t>电子信息工程本科生｜嵌入式控制 · 无线通信优化</a:t>
            </a:r>
          </a:p>
        </p:txBody>
      </p:sp>
      <p:sp>
        <p:nvSpPr>
          <p:cNvPr id="5" name="candidate-contact">
            <a:extLst xmlns:a="http://schemas.openxmlformats.org/drawingml/2006/main">
              <a:ext uri="{FF2B5EF4-FFF2-40B4-BE49-F238E27FC236}">
                <a16:creationId xmlns:a16="http://schemas.microsoft.com/office/drawing/2014/main" id="{E7CB2F5C-462C-46DD-AD13-96D51AD5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9675"/>
            <a:ext cx="433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181 5896 0907   ·   1838638742@qq.com</a:t>
            </a:r>
          </a:p>
        </p:txBody>
      </p:sp>
      <p:sp>
        <p:nvSpPr>
          <p:cNvPr id="6" name="candidate-link">
            <a:extLst xmlns:a="http://schemas.openxmlformats.org/drawingml/2006/main">
              <a:ext uri="{FF2B5EF4-FFF2-40B4-BE49-F238E27FC236}">
                <a16:creationId xmlns:a16="http://schemas.microsoft.com/office/drawing/2014/main" id="{0B2BBCEC-51C9-4ECF-B892-2895E302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38275"/>
            <a:ext cx="457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AFC6D5"/>
                </a:solidFill>
                <a:latin typeface="Microsoft YaHei"/>
                <a:ea typeface="Microsoft YaHei"/>
                <a:cs typeface="Microsoft YaHei"/>
              </a:defRPr>
            </a:pPr>
            <a:r>
              <a:t>github.com/ZH-rgb-create   ·   ZH-rgb-create.github.io</a:t>
            </a:r>
          </a:p>
        </p:txBody>
      </p:sp>
      <p:pic>
        <p:nvPicPr>
          <p:cNvPr id="7" name="university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1224213b94f91"/>
          <a:stretch xmlns:a="http://schemas.openxmlformats.org/drawingml/2006/main"/>
        </p:blipFill>
        <p:spPr>
          <a:xfrm xmlns:a="http://schemas.openxmlformats.org/drawingml/2006/main">
            <a:off x="5219700" y="363351"/>
            <a:ext cx="571500" cy="568699"/>
          </a:xfrm>
          <a:prstGeom xmlns:a="http://schemas.openxmlformats.org/drawingml/2006/main" prst="ellipse">
            <a:avLst/>
          </a:prstGeom>
        </p:spPr>
      </p:pic>
      <p:pic>
        <p:nvPicPr>
          <p:cNvPr id="8" name="candidate-portrai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7c269660745e5"/>
          <a:srcRect xmlns:a="http://schemas.openxmlformats.org/drawingml/2006/main" l="0" t="7969" r="0" b="79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91225" y="190500"/>
            <a:ext cx="1123950" cy="1419225"/>
          </a:xfrm>
          <a:prstGeom xmlns:a="http://schemas.openxmlformats.org/drawingml/2006/main" prst="roundRect">
            <a:avLst>
              <a:gd name="adj" fmla="val 8475"/>
            </a:avLst>
          </a:prstGeom>
        </p:spPr>
      </p:pic>
      <p:sp>
        <p:nvSpPr>
          <p:cNvPr id="9" name="sidebar-bg">
            <a:extLst xmlns:a="http://schemas.openxmlformats.org/drawingml/2006/main">
              <a:ext uri="{FF2B5EF4-FFF2-40B4-BE49-F238E27FC236}">
                <a16:creationId xmlns:a16="http://schemas.microsoft.com/office/drawing/2014/main" id="{03D104FF-CFF8-4209-8E77-E5CE3757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943100"/>
            <a:ext cx="1885950" cy="817245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rgbClr val="EAF0F4"/>
          </a:solidFill>
        </p:spPr>
      </p:sp>
      <p:sp>
        <p:nvSpPr>
          <p:cNvPr id="10" name="education-marker">
            <a:extLst xmlns:a="http://schemas.openxmlformats.org/drawingml/2006/main">
              <a:ext uri="{FF2B5EF4-FFF2-40B4-BE49-F238E27FC236}">
                <a16:creationId xmlns:a16="http://schemas.microsoft.com/office/drawing/2014/main" id="{4F35A7E1-0148-4EAD-BDB2-10509D40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38350"/>
            <a:ext cx="47625" cy="1809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8A3C"/>
          </a:solidFill>
        </p:spPr>
      </p:sp>
      <p:sp>
        <p:nvSpPr>
          <p:cNvPr id="11" name="education-label">
            <a:extLst xmlns:a="http://schemas.openxmlformats.org/drawingml/2006/main">
              <a:ext uri="{FF2B5EF4-FFF2-40B4-BE49-F238E27FC236}">
                <a16:creationId xmlns:a16="http://schemas.microsoft.com/office/drawing/2014/main" id="{E5B05AE7-EDD7-43D4-B542-3F60FD1C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45053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教育背景</a:t>
            </a:r>
          </a:p>
        </p:txBody>
      </p:sp>
      <p:sp>
        <p:nvSpPr>
          <p:cNvPr id="12" name="education-rule">
            <a:extLst xmlns:a="http://schemas.openxmlformats.org/drawingml/2006/main">
              <a:ext uri="{FF2B5EF4-FFF2-40B4-BE49-F238E27FC236}">
                <a16:creationId xmlns:a16="http://schemas.microsoft.com/office/drawing/2014/main" id="{DC18E3C4-3EB3-4560-BADB-5D75F52D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28600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</p:spPr>
      </p:sp>
      <p:sp>
        <p:nvSpPr>
          <p:cNvPr id="13" name="education-school">
            <a:extLst xmlns:a="http://schemas.openxmlformats.org/drawingml/2006/main">
              <a:ext uri="{FF2B5EF4-FFF2-40B4-BE49-F238E27FC236}">
                <a16:creationId xmlns:a16="http://schemas.microsoft.com/office/drawing/2014/main" id="{829BE7C7-0FBB-4D96-82AD-45BF7352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90775"/>
            <a:ext cx="46291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电子科技大学 · 信息与通信工程学院（A+学科）· 电子信息工程</a:t>
            </a:r>
          </a:p>
        </p:txBody>
      </p:sp>
      <p:sp>
        <p:nvSpPr>
          <p:cNvPr id="14" name="metric-gpa-value">
            <a:extLst xmlns:a="http://schemas.openxmlformats.org/drawingml/2006/main">
              <a:ext uri="{FF2B5EF4-FFF2-40B4-BE49-F238E27FC236}">
                <a16:creationId xmlns:a16="http://schemas.microsoft.com/office/drawing/2014/main" id="{BBA4EB2A-2E20-469C-B520-02CB79E4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05100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3.98 / 4.00</a:t>
            </a:r>
          </a:p>
        </p:txBody>
      </p:sp>
      <p:sp>
        <p:nvSpPr>
          <p:cNvPr id="15" name="metric-gpa-label">
            <a:extLst xmlns:a="http://schemas.openxmlformats.org/drawingml/2006/main">
              <a:ext uri="{FF2B5EF4-FFF2-40B4-BE49-F238E27FC236}">
                <a16:creationId xmlns:a16="http://schemas.microsoft.com/office/drawing/2014/main" id="{9C5B8E8D-C723-4EF4-B6FB-825E78EC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0289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GPA</a:t>
            </a:r>
          </a:p>
        </p:txBody>
      </p:sp>
      <p:sp>
        <p:nvSpPr>
          <p:cNvPr id="16" name="metric-rank-value">
            <a:extLst xmlns:a="http://schemas.openxmlformats.org/drawingml/2006/main">
              <a:ext uri="{FF2B5EF4-FFF2-40B4-BE49-F238E27FC236}">
                <a16:creationId xmlns:a16="http://schemas.microsoft.com/office/drawing/2014/main" id="{3A3ACE3D-A5E6-492F-AA55-A3EA1AA9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05100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3 / 180</a:t>
            </a:r>
          </a:p>
        </p:txBody>
      </p:sp>
      <p:sp>
        <p:nvSpPr>
          <p:cNvPr id="17" name="metric-rank-label">
            <a:extLst xmlns:a="http://schemas.openxmlformats.org/drawingml/2006/main">
              <a:ext uri="{FF2B5EF4-FFF2-40B4-BE49-F238E27FC236}">
                <a16:creationId xmlns:a16="http://schemas.microsoft.com/office/drawing/2014/main" id="{5B991826-F4C9-45A8-8006-D082C6C2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289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专业排名 · 前 1.67%</a:t>
            </a:r>
          </a:p>
        </p:txBody>
      </p:sp>
      <p:sp>
        <p:nvSpPr>
          <p:cNvPr id="18" name="metric-cet-value">
            <a:extLst xmlns:a="http://schemas.openxmlformats.org/drawingml/2006/main">
              <a:ext uri="{FF2B5EF4-FFF2-40B4-BE49-F238E27FC236}">
                <a16:creationId xmlns:a16="http://schemas.microsoft.com/office/drawing/2014/main" id="{1C79A9CF-1E49-4F01-9152-5BAA4E7C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05100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550 / 520</a:t>
            </a:r>
          </a:p>
        </p:txBody>
      </p:sp>
      <p:sp>
        <p:nvSpPr>
          <p:cNvPr id="19" name="metric-cet-label">
            <a:extLst xmlns:a="http://schemas.openxmlformats.org/drawingml/2006/main">
              <a:ext uri="{FF2B5EF4-FFF2-40B4-BE49-F238E27FC236}">
                <a16:creationId xmlns:a16="http://schemas.microsoft.com/office/drawing/2014/main" id="{3B053A25-3D4B-4CD9-9990-3DF4F0A6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CET-4 / CET-6</a:t>
            </a:r>
          </a:p>
        </p:txBody>
      </p:sp>
      <p:sp>
        <p:nvSpPr>
          <p:cNvPr id="20" name="education-courses">
            <a:extLst xmlns:a="http://schemas.openxmlformats.org/drawingml/2006/main">
              <a:ext uri="{FF2B5EF4-FFF2-40B4-BE49-F238E27FC236}">
                <a16:creationId xmlns:a16="http://schemas.microsoft.com/office/drawing/2014/main" id="{EAA07567-996B-44E9-A6E7-3BB62275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57550"/>
            <a:ext cx="4629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核心课程：软件设计思想与方法 I（99）、大学物理 II（95）、微积分 II（94）、电路分析与电子线路（93）、电磁场与波（92）</a:t>
            </a:r>
          </a:p>
        </p:txBody>
      </p:sp>
      <p:sp>
        <p:nvSpPr>
          <p:cNvPr id="21" name="projects-marker">
            <a:extLst xmlns:a="http://schemas.openxmlformats.org/drawingml/2006/main">
              <a:ext uri="{FF2B5EF4-FFF2-40B4-BE49-F238E27FC236}">
                <a16:creationId xmlns:a16="http://schemas.microsoft.com/office/drawing/2014/main" id="{2BBE9B63-63DB-48EE-A34C-A1EAA05C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810000"/>
            <a:ext cx="47625" cy="1809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8A3C"/>
          </a:solidFill>
        </p:spPr>
      </p:sp>
      <p:sp>
        <p:nvSpPr>
          <p:cNvPr id="22" name="projects-label">
            <a:extLst xmlns:a="http://schemas.openxmlformats.org/drawingml/2006/main">
              <a:ext uri="{FF2B5EF4-FFF2-40B4-BE49-F238E27FC236}">
                <a16:creationId xmlns:a16="http://schemas.microsoft.com/office/drawing/2014/main" id="{29E4279C-3FB0-4EE7-BC92-88750442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81425"/>
            <a:ext cx="45053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科研与竞赛项目</a:t>
            </a:r>
          </a:p>
        </p:txBody>
      </p:sp>
      <p:sp>
        <p:nvSpPr>
          <p:cNvPr id="23" name="projects-rule">
            <a:extLst xmlns:a="http://schemas.openxmlformats.org/drawingml/2006/main">
              <a:ext uri="{FF2B5EF4-FFF2-40B4-BE49-F238E27FC236}">
                <a16:creationId xmlns:a16="http://schemas.microsoft.com/office/drawing/2014/main" id="{638950D3-BBB0-4494-BBA5-BC45C5EE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576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</p:spPr>
      </p:sp>
      <p:sp>
        <p:nvSpPr>
          <p:cNvPr id="24" name="project1-title">
            <a:extLst xmlns:a="http://schemas.openxmlformats.org/drawingml/2006/main">
              <a:ext uri="{FF2B5EF4-FFF2-40B4-BE49-F238E27FC236}">
                <a16:creationId xmlns:a16="http://schemas.microsoft.com/office/drawing/2014/main" id="{2FD052D2-CF19-4444-8944-68A1BE4B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171950"/>
            <a:ext cx="36385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6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全国大学生电子设计竞赛｜能量回馈变流器负载试验装置</a:t>
            </a:r>
          </a:p>
        </p:txBody>
      </p:sp>
      <p:sp>
        <p:nvSpPr>
          <p:cNvPr id="25" name="project1-date">
            <a:extLst xmlns:a="http://schemas.openxmlformats.org/drawingml/2006/main">
              <a:ext uri="{FF2B5EF4-FFF2-40B4-BE49-F238E27FC236}">
                <a16:creationId xmlns:a16="http://schemas.microsoft.com/office/drawing/2014/main" id="{18B43BE1-ABF2-4C56-9A63-A54E823E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7195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10" b="1">
                <a:solidFill>
                  <a:srgbClr val="F08A3C"/>
                </a:solidFill>
                <a:latin typeface="Microsoft YaHei"/>
                <a:ea typeface="Microsoft YaHei"/>
                <a:cs typeface="Microsoft YaHei"/>
              </a:defRPr>
            </a:pPr>
            <a:r>
              <a:t>2025.06–2025.08</a:t>
            </a:r>
          </a:p>
        </p:txBody>
      </p:sp>
      <p:sp>
        <p:nvSpPr>
          <p:cNvPr id="26" name="project1-summary">
            <a:extLst xmlns:a="http://schemas.openxmlformats.org/drawingml/2006/main">
              <a:ext uri="{FF2B5EF4-FFF2-40B4-BE49-F238E27FC236}">
                <a16:creationId xmlns:a16="http://schemas.microsoft.com/office/drawing/2014/main" id="{822648FC-8CEE-40C4-B87D-8D7F3544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486275"/>
            <a:ext cx="4629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4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面向三相能量回馈负载试验，完成 50 Hz、线电压 32 V、额定线电流 2 A 的系统设计目标，并实现能量回馈；输出交流电压 THD 目标不大于 2%。</a:t>
            </a:r>
          </a:p>
        </p:txBody>
      </p:sp>
      <p:sp>
        <p:nvSpPr>
          <p:cNvPr id="27" name="project1-role">
            <a:extLst xmlns:a="http://schemas.openxmlformats.org/drawingml/2006/main">
              <a:ext uri="{FF2B5EF4-FFF2-40B4-BE49-F238E27FC236}">
                <a16:creationId xmlns:a16="http://schemas.microsoft.com/office/drawing/2014/main" id="{6267BEDD-B37E-4F23-B3B8-BAB6D29E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048250"/>
            <a:ext cx="462915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4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负责 STM32 控制软件：使用 STM32CubeMX 配置外设，完成采样、SVPWM 与基础闭环控制；参与系统板/功率板联调，定位软硬件协同问题并优化稳定性与响应。</a:t>
            </a:r>
          </a:p>
        </p:txBody>
      </p:sp>
      <p:sp>
        <p:nvSpPr>
          <p:cNvPr id="28" name="project-divider">
            <a:extLst xmlns:a="http://schemas.openxmlformats.org/drawingml/2006/main">
              <a:ext uri="{FF2B5EF4-FFF2-40B4-BE49-F238E27FC236}">
                <a16:creationId xmlns:a16="http://schemas.microsoft.com/office/drawing/2014/main" id="{FB966649-2217-492C-9AD0-498B3B71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86740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2"/>
          </a:solidFill>
        </p:spPr>
      </p:sp>
      <p:sp>
        <p:nvSpPr>
          <p:cNvPr id="29" name="project2-title">
            <a:extLst xmlns:a="http://schemas.openxmlformats.org/drawingml/2006/main">
              <a:ext uri="{FF2B5EF4-FFF2-40B4-BE49-F238E27FC236}">
                <a16:creationId xmlns:a16="http://schemas.microsoft.com/office/drawing/2014/main" id="{551D0BED-D358-4EC7-B620-AC1B7BD8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038850"/>
            <a:ext cx="36385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6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有源 IRS 辅助通信系统保密速率优化｜科研项目</a:t>
            </a:r>
          </a:p>
        </p:txBody>
      </p:sp>
      <p:sp>
        <p:nvSpPr>
          <p:cNvPr id="30" name="project2-date">
            <a:extLst xmlns:a="http://schemas.openxmlformats.org/drawingml/2006/main">
              <a:ext uri="{FF2B5EF4-FFF2-40B4-BE49-F238E27FC236}">
                <a16:creationId xmlns:a16="http://schemas.microsoft.com/office/drawing/2014/main" id="{513BAE2B-28C0-41FB-9E75-15EE81AA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03885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10" b="1">
                <a:solidFill>
                  <a:srgbClr val="F08A3C"/>
                </a:solidFill>
                <a:latin typeface="Microsoft YaHei"/>
                <a:ea typeface="Microsoft YaHei"/>
                <a:cs typeface="Microsoft YaHei"/>
              </a:defRPr>
            </a:pPr>
            <a:r>
              <a:t>2026.03–至今</a:t>
            </a:r>
          </a:p>
        </p:txBody>
      </p:sp>
      <p:sp>
        <p:nvSpPr>
          <p:cNvPr id="31" name="project2-summary">
            <a:extLst xmlns:a="http://schemas.openxmlformats.org/drawingml/2006/main">
              <a:ext uri="{FF2B5EF4-FFF2-40B4-BE49-F238E27FC236}">
                <a16:creationId xmlns:a16="http://schemas.microsoft.com/office/drawing/2014/main" id="{1E621337-F817-4C11-B076-5A8AE41D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362700"/>
            <a:ext cx="46291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4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构建基站、用户与窃听者组成的 AIRS 辅助无线通信模型，考虑三维部署、欧拉角姿态及角度相关反射特性，以最大化系统保密速率为目标。</a:t>
            </a:r>
          </a:p>
        </p:txBody>
      </p:sp>
      <p:sp>
        <p:nvSpPr>
          <p:cNvPr id="32" name="project2-role">
            <a:extLst xmlns:a="http://schemas.openxmlformats.org/drawingml/2006/main">
              <a:ext uri="{FF2B5EF4-FFF2-40B4-BE49-F238E27FC236}">
                <a16:creationId xmlns:a16="http://schemas.microsoft.com/office/drawing/2014/main" id="{DFAC64F3-F74E-4EFB-884A-8CE327F0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934200"/>
            <a:ext cx="46291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45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将 AIRS 反射相位、放大因子、基站波束成形向量及位置/三维姿态角设为联合优化变量，并引入单位模、功率和有效反射角等工程约束。</a:t>
            </a:r>
          </a:p>
        </p:txBody>
      </p:sp>
      <p:sp>
        <p:nvSpPr>
          <p:cNvPr id="33" name="leadership-marker">
            <a:extLst xmlns:a="http://schemas.openxmlformats.org/drawingml/2006/main">
              <a:ext uri="{FF2B5EF4-FFF2-40B4-BE49-F238E27FC236}">
                <a16:creationId xmlns:a16="http://schemas.microsoft.com/office/drawing/2014/main" id="{A3FBAF82-B5B2-4EF7-A076-C196C6D4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667625"/>
            <a:ext cx="47625" cy="1809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8A3C"/>
          </a:solidFill>
        </p:spPr>
      </p:sp>
      <p:sp>
        <p:nvSpPr>
          <p:cNvPr id="34" name="leadership-label">
            <a:extLst xmlns:a="http://schemas.openxmlformats.org/drawingml/2006/main">
              <a:ext uri="{FF2B5EF4-FFF2-40B4-BE49-F238E27FC236}">
                <a16:creationId xmlns:a16="http://schemas.microsoft.com/office/drawing/2014/main" id="{8DF963FE-10A6-4D1C-96F0-5FAABF93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39050"/>
            <a:ext cx="45053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学生工作</a:t>
            </a:r>
          </a:p>
        </p:txBody>
      </p:sp>
      <p:sp>
        <p:nvSpPr>
          <p:cNvPr id="35" name="leadership-rule">
            <a:extLst xmlns:a="http://schemas.openxmlformats.org/drawingml/2006/main">
              <a:ext uri="{FF2B5EF4-FFF2-40B4-BE49-F238E27FC236}">
                <a16:creationId xmlns:a16="http://schemas.microsoft.com/office/drawing/2014/main" id="{33170A74-095F-4E51-A756-95532065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9152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</p:spPr>
      </p:sp>
      <p:sp>
        <p:nvSpPr>
          <p:cNvPr id="36" name="leadership1-title">
            <a:extLst xmlns:a="http://schemas.openxmlformats.org/drawingml/2006/main">
              <a:ext uri="{FF2B5EF4-FFF2-40B4-BE49-F238E27FC236}">
                <a16:creationId xmlns:a16="http://schemas.microsoft.com/office/drawing/2014/main" id="{B253C124-03ED-4031-AEE1-9E450DA3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0200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3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学院科协技术部副部长</a:t>
            </a:r>
          </a:p>
        </p:txBody>
      </p:sp>
      <p:sp>
        <p:nvSpPr>
          <p:cNvPr id="37" name="leadership1-body">
            <a:extLst xmlns:a="http://schemas.openxmlformats.org/drawingml/2006/main">
              <a:ext uri="{FF2B5EF4-FFF2-40B4-BE49-F238E27FC236}">
                <a16:creationId xmlns:a16="http://schemas.microsoft.com/office/drawing/2014/main" id="{79C9D16F-3F27-4EE6-8121-3103E908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277225"/>
            <a:ext cx="46291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协助组织院级电子设计竞赛，参与流程筹备与实施；负责训练题发放与讲解，帮助参赛同学理解解题思路和关键知识点。</a:t>
            </a:r>
          </a:p>
        </p:txBody>
      </p:sp>
      <p:sp>
        <p:nvSpPr>
          <p:cNvPr id="38" name="leadership2-title">
            <a:extLst xmlns:a="http://schemas.openxmlformats.org/drawingml/2006/main">
              <a:ext uri="{FF2B5EF4-FFF2-40B4-BE49-F238E27FC236}">
                <a16:creationId xmlns:a16="http://schemas.microsoft.com/office/drawing/2014/main" id="{75F268FA-7A49-4BC2-9650-16C02197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829675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3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班级留学委员</a:t>
            </a:r>
          </a:p>
        </p:txBody>
      </p:sp>
      <p:sp>
        <p:nvSpPr>
          <p:cNvPr id="39" name="leadership2-body">
            <a:extLst xmlns:a="http://schemas.openxmlformats.org/drawingml/2006/main">
              <a:ext uri="{FF2B5EF4-FFF2-40B4-BE49-F238E27FC236}">
                <a16:creationId xmlns:a16="http://schemas.microsoft.com/office/drawing/2014/main" id="{87E3BE92-5E08-4D0C-BA02-0C3D18A6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086850"/>
            <a:ext cx="46291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组织学习分享会，整理并讲解留学申请流程、院校选择与准备要点；推动班级学习氛围建设，助力班级获评校级优秀班级。</a:t>
            </a:r>
          </a:p>
        </p:txBody>
      </p:sp>
      <p:sp>
        <p:nvSpPr>
          <p:cNvPr id="40" name="sidebar-profile-title">
            <a:extLst xmlns:a="http://schemas.openxmlformats.org/drawingml/2006/main">
              <a:ext uri="{FF2B5EF4-FFF2-40B4-BE49-F238E27FC236}">
                <a16:creationId xmlns:a16="http://schemas.microsoft.com/office/drawing/2014/main" id="{9FBAF16D-FD09-4F98-B90C-975B2295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14478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个人信息</a:t>
            </a:r>
          </a:p>
        </p:txBody>
      </p:sp>
      <p:sp>
        <p:nvSpPr>
          <p:cNvPr id="41" name="sidebar-profile-rule">
            <a:extLst xmlns:a="http://schemas.openxmlformats.org/drawingml/2006/main">
              <a:ext uri="{FF2B5EF4-FFF2-40B4-BE49-F238E27FC236}">
                <a16:creationId xmlns:a16="http://schemas.microsoft.com/office/drawing/2014/main" id="{96701018-7567-4B12-8F15-0EF45746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76500"/>
            <a:ext cx="145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1D8"/>
          </a:solidFill>
        </p:spPr>
      </p:sp>
      <p:sp>
        <p:nvSpPr>
          <p:cNvPr id="42" name="sidebar-profile-body">
            <a:extLst xmlns:a="http://schemas.openxmlformats.org/drawingml/2006/main">
              <a:ext uri="{FF2B5EF4-FFF2-40B4-BE49-F238E27FC236}">
                <a16:creationId xmlns:a16="http://schemas.microsoft.com/office/drawing/2014/main" id="{CD079CC3-C6E6-4DF9-8F90-3FD56379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9850"/>
            <a:ext cx="1457325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出生年月  2006.08 政治面貌  中共预备党员</a:t>
            </a:r>
          </a:p>
        </p:txBody>
      </p:sp>
      <p:sp>
        <p:nvSpPr>
          <p:cNvPr id="43" name="sidebar-awards-title">
            <a:extLst xmlns:a="http://schemas.openxmlformats.org/drawingml/2006/main">
              <a:ext uri="{FF2B5EF4-FFF2-40B4-BE49-F238E27FC236}">
                <a16:creationId xmlns:a16="http://schemas.microsoft.com/office/drawing/2014/main" id="{FD6A95CB-59D4-4319-BF3A-05D90AAD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76600"/>
            <a:ext cx="14478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获奖与荣誉</a:t>
            </a:r>
          </a:p>
        </p:txBody>
      </p:sp>
      <p:sp>
        <p:nvSpPr>
          <p:cNvPr id="44" name="sidebar-awards-rule">
            <a:extLst xmlns:a="http://schemas.openxmlformats.org/drawingml/2006/main">
              <a:ext uri="{FF2B5EF4-FFF2-40B4-BE49-F238E27FC236}">
                <a16:creationId xmlns:a16="http://schemas.microsoft.com/office/drawing/2014/main" id="{A8F2EA7C-ABB2-4FB6-829C-37EF02E1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62350"/>
            <a:ext cx="145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1D8"/>
          </a:solidFill>
        </p:spPr>
      </p:sp>
      <p:sp>
        <p:nvSpPr>
          <p:cNvPr id="45" name="award-1-dot">
            <a:extLst xmlns:a="http://schemas.openxmlformats.org/drawingml/2006/main">
              <a:ext uri="{FF2B5EF4-FFF2-40B4-BE49-F238E27FC236}">
                <a16:creationId xmlns:a16="http://schemas.microsoft.com/office/drawing/2014/main" id="{FC048124-F0FD-4C6F-A6FC-B1CA42AE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719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8A3C"/>
          </a:solidFill>
        </p:spPr>
      </p:sp>
      <p:sp>
        <p:nvSpPr>
          <p:cNvPr id="46" name="award-1-title">
            <a:extLst xmlns:a="http://schemas.openxmlformats.org/drawingml/2006/main">
              <a:ext uri="{FF2B5EF4-FFF2-40B4-BE49-F238E27FC236}">
                <a16:creationId xmlns:a16="http://schemas.microsoft.com/office/drawing/2014/main" id="{840AFED9-F324-409A-9C5A-69BFD305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24275"/>
            <a:ext cx="13620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全国大学生电子设计竞赛</a:t>
            </a:r>
          </a:p>
        </p:txBody>
      </p:sp>
      <p:sp>
        <p:nvSpPr>
          <p:cNvPr id="47" name="award-1-level">
            <a:extLst xmlns:a="http://schemas.openxmlformats.org/drawingml/2006/main">
              <a:ext uri="{FF2B5EF4-FFF2-40B4-BE49-F238E27FC236}">
                <a16:creationId xmlns:a16="http://schemas.microsoft.com/office/drawing/2014/main" id="{0E4DB11E-70B1-4264-9192-6989B159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57650"/>
            <a:ext cx="1362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省部级三等奖 · 2025</a:t>
            </a:r>
          </a:p>
        </p:txBody>
      </p:sp>
      <p:sp>
        <p:nvSpPr>
          <p:cNvPr id="48" name="award-2-dot">
            <a:extLst xmlns:a="http://schemas.openxmlformats.org/drawingml/2006/main">
              <a:ext uri="{FF2B5EF4-FFF2-40B4-BE49-F238E27FC236}">
                <a16:creationId xmlns:a16="http://schemas.microsoft.com/office/drawing/2014/main" id="{3DCA4D27-C4B1-4AC7-9299-BF6700BA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338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8A3C"/>
          </a:solidFill>
        </p:spPr>
      </p:sp>
      <p:sp>
        <p:nvSpPr>
          <p:cNvPr id="49" name="award-2-title">
            <a:extLst xmlns:a="http://schemas.openxmlformats.org/drawingml/2006/main">
              <a:ext uri="{FF2B5EF4-FFF2-40B4-BE49-F238E27FC236}">
                <a16:creationId xmlns:a16="http://schemas.microsoft.com/office/drawing/2014/main" id="{85A4A807-A649-415B-9202-B198BF9F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86250"/>
            <a:ext cx="13620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全国大学生数学竞赛</a:t>
            </a:r>
          </a:p>
        </p:txBody>
      </p:sp>
      <p:sp>
        <p:nvSpPr>
          <p:cNvPr id="50" name="award-2-level">
            <a:extLst xmlns:a="http://schemas.openxmlformats.org/drawingml/2006/main">
              <a:ext uri="{FF2B5EF4-FFF2-40B4-BE49-F238E27FC236}">
                <a16:creationId xmlns:a16="http://schemas.microsoft.com/office/drawing/2014/main" id="{3B4FB5C1-DB2A-4D87-A414-26D62923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19625"/>
            <a:ext cx="1362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省部级一等奖 · 2025</a:t>
            </a:r>
          </a:p>
        </p:txBody>
      </p:sp>
      <p:sp>
        <p:nvSpPr>
          <p:cNvPr id="51" name="award-3-dot">
            <a:extLst xmlns:a="http://schemas.openxmlformats.org/drawingml/2006/main">
              <a:ext uri="{FF2B5EF4-FFF2-40B4-BE49-F238E27FC236}">
                <a16:creationId xmlns:a16="http://schemas.microsoft.com/office/drawing/2014/main" id="{E0446BDE-CC3F-4574-B120-8E2F1F9B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9585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8A3C"/>
          </a:solidFill>
        </p:spPr>
      </p:sp>
      <p:sp>
        <p:nvSpPr>
          <p:cNvPr id="52" name="award-3-title">
            <a:extLst xmlns:a="http://schemas.openxmlformats.org/drawingml/2006/main">
              <a:ext uri="{FF2B5EF4-FFF2-40B4-BE49-F238E27FC236}">
                <a16:creationId xmlns:a16="http://schemas.microsoft.com/office/drawing/2014/main" id="{01F572DE-034E-4B77-8A00-FEFD808B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48225"/>
            <a:ext cx="13620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国家奖学金</a:t>
            </a:r>
          </a:p>
        </p:txBody>
      </p:sp>
      <p:sp>
        <p:nvSpPr>
          <p:cNvPr id="53" name="award-3-level">
            <a:extLst xmlns:a="http://schemas.openxmlformats.org/drawingml/2006/main">
              <a:ext uri="{FF2B5EF4-FFF2-40B4-BE49-F238E27FC236}">
                <a16:creationId xmlns:a16="http://schemas.microsoft.com/office/drawing/2014/main" id="{5E2A0711-73FE-4538-A5F0-D8322A2F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81600"/>
            <a:ext cx="1362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前 3%</a:t>
            </a:r>
          </a:p>
        </p:txBody>
      </p:sp>
      <p:sp>
        <p:nvSpPr>
          <p:cNvPr id="54" name="award-4-dot">
            <a:extLst xmlns:a="http://schemas.openxmlformats.org/drawingml/2006/main">
              <a:ext uri="{FF2B5EF4-FFF2-40B4-BE49-F238E27FC236}">
                <a16:creationId xmlns:a16="http://schemas.microsoft.com/office/drawing/2014/main" id="{EF43B3CB-9B18-495C-B142-D07166DE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45782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8A3C"/>
          </a:solidFill>
        </p:spPr>
      </p:sp>
      <p:sp>
        <p:nvSpPr>
          <p:cNvPr id="55" name="award-4-title">
            <a:extLst xmlns:a="http://schemas.openxmlformats.org/drawingml/2006/main">
              <a:ext uri="{FF2B5EF4-FFF2-40B4-BE49-F238E27FC236}">
                <a16:creationId xmlns:a16="http://schemas.microsoft.com/office/drawing/2014/main" id="{F1896C0E-4513-4A23-A8D3-589F815B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10200"/>
            <a:ext cx="13620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校优秀学生一等奖学金</a:t>
            </a:r>
          </a:p>
        </p:txBody>
      </p:sp>
      <p:sp>
        <p:nvSpPr>
          <p:cNvPr id="56" name="award-4-level">
            <a:extLst xmlns:a="http://schemas.openxmlformats.org/drawingml/2006/main">
              <a:ext uri="{FF2B5EF4-FFF2-40B4-BE49-F238E27FC236}">
                <a16:creationId xmlns:a16="http://schemas.microsoft.com/office/drawing/2014/main" id="{674E4068-2F86-497E-B672-D4B7997E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43575"/>
            <a:ext cx="1362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前 10%</a:t>
            </a:r>
          </a:p>
        </p:txBody>
      </p:sp>
      <p:sp>
        <p:nvSpPr>
          <p:cNvPr id="57" name="award-5-dot">
            <a:extLst xmlns:a="http://schemas.openxmlformats.org/drawingml/2006/main">
              <a:ext uri="{FF2B5EF4-FFF2-40B4-BE49-F238E27FC236}">
                <a16:creationId xmlns:a16="http://schemas.microsoft.com/office/drawing/2014/main" id="{3AC47094-E984-4B8E-A200-D192C1B8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0198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8A3C"/>
          </a:solidFill>
        </p:spPr>
      </p:sp>
      <p:sp>
        <p:nvSpPr>
          <p:cNvPr id="58" name="award-5-title">
            <a:extLst xmlns:a="http://schemas.openxmlformats.org/drawingml/2006/main">
              <a:ext uri="{FF2B5EF4-FFF2-40B4-BE49-F238E27FC236}">
                <a16:creationId xmlns:a16="http://schemas.microsoft.com/office/drawing/2014/main" id="{FAA7690F-4A09-4266-A6F2-0096C110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72175"/>
            <a:ext cx="13620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校级优秀共青团员</a:t>
            </a:r>
          </a:p>
        </p:txBody>
      </p:sp>
      <p:sp>
        <p:nvSpPr>
          <p:cNvPr id="59" name="award-5-level">
            <a:extLst xmlns:a="http://schemas.openxmlformats.org/drawingml/2006/main">
              <a:ext uri="{FF2B5EF4-FFF2-40B4-BE49-F238E27FC236}">
                <a16:creationId xmlns:a16="http://schemas.microsoft.com/office/drawing/2014/main" id="{BBD7041E-9B54-4F54-85E2-760C947B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305550"/>
            <a:ext cx="1362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1.2%</a:t>
            </a:r>
          </a:p>
        </p:txBody>
      </p:sp>
      <p:sp>
        <p:nvSpPr>
          <p:cNvPr id="60" name="sidebar-skills-title">
            <a:extLst xmlns:a="http://schemas.openxmlformats.org/drawingml/2006/main">
              <a:ext uri="{FF2B5EF4-FFF2-40B4-BE49-F238E27FC236}">
                <a16:creationId xmlns:a16="http://schemas.microsoft.com/office/drawing/2014/main" id="{6B16414C-73A2-4F12-A0FD-5C8E1B7F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610350"/>
            <a:ext cx="14478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技术能力</a:t>
            </a:r>
          </a:p>
        </p:txBody>
      </p:sp>
      <p:sp>
        <p:nvSpPr>
          <p:cNvPr id="61" name="sidebar-skills-rule">
            <a:extLst xmlns:a="http://schemas.openxmlformats.org/drawingml/2006/main">
              <a:ext uri="{FF2B5EF4-FFF2-40B4-BE49-F238E27FC236}">
                <a16:creationId xmlns:a16="http://schemas.microsoft.com/office/drawing/2014/main" id="{F767332A-7436-44EC-8151-A35E5FB2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896100"/>
            <a:ext cx="145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1D8"/>
          </a:solidFill>
        </p:spPr>
      </p:sp>
      <p:sp>
        <p:nvSpPr>
          <p:cNvPr id="62" name="sidebar-skills-embedded-label">
            <a:extLst xmlns:a="http://schemas.openxmlformats.org/drawingml/2006/main">
              <a:ext uri="{FF2B5EF4-FFF2-40B4-BE49-F238E27FC236}">
                <a16:creationId xmlns:a16="http://schemas.microsoft.com/office/drawing/2014/main" id="{F5C189FC-1589-4C6E-955F-189E29E3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7067550"/>
            <a:ext cx="14573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85" b="1">
                <a:solidFill>
                  <a:srgbClr val="F08A3C"/>
                </a:solidFill>
                <a:latin typeface="Microsoft YaHei"/>
                <a:ea typeface="Microsoft YaHei"/>
                <a:cs typeface="Microsoft YaHei"/>
              </a:defRPr>
            </a:pPr>
            <a:r>
              <a:t>嵌入式</a:t>
            </a:r>
          </a:p>
        </p:txBody>
      </p:sp>
      <p:sp>
        <p:nvSpPr>
          <p:cNvPr id="63" name="sidebar-skills-embedded">
            <a:extLst xmlns:a="http://schemas.openxmlformats.org/drawingml/2006/main">
              <a:ext uri="{FF2B5EF4-FFF2-40B4-BE49-F238E27FC236}">
                <a16:creationId xmlns:a16="http://schemas.microsoft.com/office/drawing/2014/main" id="{C006B791-D637-471F-8911-BF7BDA20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7267575"/>
            <a:ext cx="14573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7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Keil · STM32CubeMX · Multisim 采样 · SVPWM · 基础闭环控制</a:t>
            </a:r>
          </a:p>
        </p:txBody>
      </p:sp>
      <p:sp>
        <p:nvSpPr>
          <p:cNvPr id="64" name="sidebar-skills-code-label">
            <a:extLst xmlns:a="http://schemas.openxmlformats.org/drawingml/2006/main">
              <a:ext uri="{FF2B5EF4-FFF2-40B4-BE49-F238E27FC236}">
                <a16:creationId xmlns:a16="http://schemas.microsoft.com/office/drawing/2014/main" id="{C6318913-F25C-49EA-95E0-481DBBF7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7810500"/>
            <a:ext cx="14573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85" b="1">
                <a:solidFill>
                  <a:srgbClr val="F08A3C"/>
                </a:solidFill>
                <a:latin typeface="Microsoft YaHei"/>
                <a:ea typeface="Microsoft YaHei"/>
                <a:cs typeface="Microsoft YaHei"/>
              </a:defRPr>
            </a:pPr>
            <a:r>
              <a:t>编程</a:t>
            </a:r>
          </a:p>
        </p:txBody>
      </p:sp>
      <p:sp>
        <p:nvSpPr>
          <p:cNvPr id="65" name="sidebar-skills-code">
            <a:extLst xmlns:a="http://schemas.openxmlformats.org/drawingml/2006/main">
              <a:ext uri="{FF2B5EF4-FFF2-40B4-BE49-F238E27FC236}">
                <a16:creationId xmlns:a16="http://schemas.microsoft.com/office/drawing/2014/main" id="{71C3A90D-6EB0-49F9-AE7E-8CC3E41A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8010525"/>
            <a:ext cx="14573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7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C · C++ · Python</a:t>
            </a:r>
          </a:p>
        </p:txBody>
      </p:sp>
      <p:sp>
        <p:nvSpPr>
          <p:cNvPr id="66" name="sidebar-skills-research-label">
            <a:extLst xmlns:a="http://schemas.openxmlformats.org/drawingml/2006/main">
              <a:ext uri="{FF2B5EF4-FFF2-40B4-BE49-F238E27FC236}">
                <a16:creationId xmlns:a16="http://schemas.microsoft.com/office/drawing/2014/main" id="{0C1A02D7-9444-4701-81E5-5B425B8F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8372475"/>
            <a:ext cx="14573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85" b="1">
                <a:solidFill>
                  <a:srgbClr val="F08A3C"/>
                </a:solidFill>
                <a:latin typeface="Microsoft YaHei"/>
                <a:ea typeface="Microsoft YaHei"/>
                <a:cs typeface="Microsoft YaHei"/>
              </a:defRPr>
            </a:pPr>
            <a:r>
              <a:t>科研</a:t>
            </a:r>
          </a:p>
        </p:txBody>
      </p:sp>
      <p:sp>
        <p:nvSpPr>
          <p:cNvPr id="67" name="sidebar-skills-research">
            <a:extLst xmlns:a="http://schemas.openxmlformats.org/drawingml/2006/main">
              <a:ext uri="{FF2B5EF4-FFF2-40B4-BE49-F238E27FC236}">
                <a16:creationId xmlns:a16="http://schemas.microsoft.com/office/drawing/2014/main" id="{DA65011B-FD20-4315-8BC4-1779971A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8572500"/>
            <a:ext cx="14573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7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无线系统建模 · 联合优化问题构建 英文技术文献阅读</a:t>
            </a:r>
          </a:p>
        </p:txBody>
      </p:sp>
      <p:sp>
        <p:nvSpPr>
          <p:cNvPr id="68" name="sidebar-strength-title">
            <a:extLst xmlns:a="http://schemas.openxmlformats.org/drawingml/2006/main">
              <a:ext uri="{FF2B5EF4-FFF2-40B4-BE49-F238E27FC236}">
                <a16:creationId xmlns:a16="http://schemas.microsoft.com/office/drawing/2014/main" id="{8AE521A4-C9BC-4D8E-8475-BCA157BC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9134475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关键词</a:t>
            </a:r>
          </a:p>
        </p:txBody>
      </p:sp>
      <p:sp>
        <p:nvSpPr>
          <p:cNvPr id="69" name="sidebar-strength-body">
            <a:extLst xmlns:a="http://schemas.openxmlformats.org/drawingml/2006/main">
              <a:ext uri="{FF2B5EF4-FFF2-40B4-BE49-F238E27FC236}">
                <a16:creationId xmlns:a16="http://schemas.microsoft.com/office/drawing/2014/main" id="{5CFC2DC8-760B-4BD7-B485-EED5134A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9391650"/>
            <a:ext cx="145732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78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嵌入式控制 电力电子联调 AIRS / IRS 无线通信优化</a:t>
            </a:r>
          </a:p>
        </p:txBody>
      </p:sp>
      <p:sp>
        <p:nvSpPr>
          <p:cNvPr id="7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A26FAB9-81F0-4295-921E-DA18D870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296525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969"/>
          </a:solidFill>
        </p:spPr>
      </p:sp>
      <p:sp>
        <p:nvSpPr>
          <p:cNvPr id="71" name="footer-note">
            <a:extLst xmlns:a="http://schemas.openxmlformats.org/drawingml/2006/main">
              <a:ext uri="{FF2B5EF4-FFF2-40B4-BE49-F238E27FC236}">
                <a16:creationId xmlns:a16="http://schemas.microsoft.com/office/drawing/2014/main" id="{BF3F7E77-8A9F-49F6-8C26-1BE26CE1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410825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Portfolio · ZH-rgb-create.github.io</a:t>
            </a:r>
          </a:p>
        </p:txBody>
      </p:sp>
      <p:sp>
        <p:nvSpPr>
          <p:cNvPr id="7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9851E41-4EC8-496D-B07D-5F14CE62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391775"/>
            <a:ext cx="4095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930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2026-06-05T08:45:48.8000000Z</dcterms:created>
  <dcterms:modified xsi:type="dcterms:W3CDTF">2026-06-05T08:45:48.8000000Z</dcterms:modified>
</coreProperties>
</file>